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BM Plex Mono" panose="020F0502020204030204" pitchFamily="49" charset="0"/>
      <p:regular r:id="rId13"/>
    </p:embeddedFont>
    <p:embeddedFont>
      <p:font typeface="IBM Plex Mono Bold" panose="020B0604020202020204" charset="0"/>
      <p:regular r:id="rId14"/>
    </p:embeddedFont>
    <p:embeddedFont>
      <p:font typeface="IBM Plex Mono Medium" panose="020F0502020204030204" pitchFamily="49" charset="0"/>
      <p:regular r:id="rId15"/>
    </p:embeddedFont>
    <p:embeddedFont>
      <p:font typeface="Inter" panose="020B0604020202020204" charset="0"/>
      <p:regular r:id="rId16"/>
    </p:embeddedFont>
    <p:embeddedFont>
      <p:font typeface="Inter SemiBold" panose="020B0604020202020204" charset="0"/>
      <p:regular r:id="rId17"/>
    </p:embeddedFont>
    <p:embeddedFont>
      <p:font typeface="Manrope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82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22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609600"/>
            <a:ext cx="604504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7196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FINIX / INVESTIGATION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62461" y="609600"/>
            <a:ext cx="604504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9196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Evidence-backed investigation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84185" y="1991221"/>
            <a:ext cx="11023324" cy="1191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600" kern="0" spc="-207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FiniX — UPI Fraud-Ring &amp; Merchant Intelligence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84185" y="3408263"/>
            <a:ext cx="11607510" cy="306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fragmented payment data to explainable investigation intelligence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5211862"/>
            <a:ext cx="202679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0" spc="-198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20K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84185" y="5996087"/>
            <a:ext cx="263637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66566" y="5211862"/>
            <a:ext cx="1849094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0" spc="-198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36.1K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966566" y="5996087"/>
            <a:ext cx="2458678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KYC records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71251" y="5211862"/>
            <a:ext cx="1849094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0" spc="-198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6.2K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171251" y="5996087"/>
            <a:ext cx="2458678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merchant records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75936" y="5211862"/>
            <a:ext cx="1849094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0" spc="-198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2.8K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375936" y="5996087"/>
            <a:ext cx="2458678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chargebacks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580620" y="5211862"/>
            <a:ext cx="2026889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0" spc="-198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27.9K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580620" y="5996087"/>
            <a:ext cx="261107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nodes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82421" y="5211862"/>
            <a:ext cx="12700" cy="1036638"/>
          </a:xfrm>
          <a:prstGeom prst="rect">
            <a:avLst/>
          </a:prstGeom>
          <a:solidFill>
            <a:srgbClr val="244247"/>
          </a:solidFill>
          <a:ln/>
        </p:spPr>
      </p:sp>
      <p:sp>
        <p:nvSpPr>
          <p:cNvPr id="17" name="Shape 15"/>
          <p:cNvSpPr/>
          <p:nvPr/>
        </p:nvSpPr>
        <p:spPr>
          <a:xfrm>
            <a:off x="4987106" y="5211862"/>
            <a:ext cx="12700" cy="1036638"/>
          </a:xfrm>
          <a:prstGeom prst="rect">
            <a:avLst/>
          </a:prstGeom>
          <a:solidFill>
            <a:srgbClr val="244247"/>
          </a:solidFill>
          <a:ln/>
        </p:spPr>
      </p:sp>
      <p:sp>
        <p:nvSpPr>
          <p:cNvPr id="18" name="Shape 16"/>
          <p:cNvSpPr/>
          <p:nvPr/>
        </p:nvSpPr>
        <p:spPr>
          <a:xfrm>
            <a:off x="7191790" y="5211862"/>
            <a:ext cx="12700" cy="1036638"/>
          </a:xfrm>
          <a:prstGeom prst="rect">
            <a:avLst/>
          </a:prstGeom>
          <a:solidFill>
            <a:srgbClr val="244247"/>
          </a:solidFill>
          <a:ln/>
        </p:spPr>
      </p:sp>
      <p:sp>
        <p:nvSpPr>
          <p:cNvPr id="19" name="Shape 17"/>
          <p:cNvSpPr/>
          <p:nvPr/>
        </p:nvSpPr>
        <p:spPr>
          <a:xfrm>
            <a:off x="9396475" y="5211862"/>
            <a:ext cx="12700" cy="1036638"/>
          </a:xfrm>
          <a:prstGeom prst="rect">
            <a:avLst/>
          </a:prstGeom>
          <a:solidFill>
            <a:srgbClr val="24424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15821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7196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01 / THE INVESTIGATION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427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00" kern="0" spc="-148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Fraud signals rarely live in one transaction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585" y="1487884"/>
            <a:ext cx="1158211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the investigation path across people, payments, merchants, complaints, and the wider network.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2019697"/>
            <a:ext cx="760890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9585" y="2230537"/>
            <a:ext cx="1828754" cy="19050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356247"/>
            <a:ext cx="182875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USER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2777232"/>
            <a:ext cx="243833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needs review?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95428" y="2019697"/>
            <a:ext cx="788869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95428" y="2230537"/>
            <a:ext cx="1828754" cy="19050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11" name="Text 9"/>
          <p:cNvSpPr/>
          <p:nvPr/>
        </p:nvSpPr>
        <p:spPr>
          <a:xfrm>
            <a:off x="2895428" y="2356247"/>
            <a:ext cx="182885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TRANSACTION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95428" y="2777232"/>
            <a:ext cx="2438438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happened?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81371" y="2019697"/>
            <a:ext cx="790654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81371" y="2230537"/>
            <a:ext cx="1828754" cy="19050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15" name="Text 13"/>
          <p:cNvSpPr/>
          <p:nvPr/>
        </p:nvSpPr>
        <p:spPr>
          <a:xfrm>
            <a:off x="5181371" y="2356247"/>
            <a:ext cx="182885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MERCHANT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81371" y="2777232"/>
            <a:ext cx="2438438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did it happen?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67314" y="2019697"/>
            <a:ext cx="794822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67314" y="2230537"/>
            <a:ext cx="1828754" cy="19050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19" name="Text 17"/>
          <p:cNvSpPr/>
          <p:nvPr/>
        </p:nvSpPr>
        <p:spPr>
          <a:xfrm>
            <a:off x="7467314" y="2356247"/>
            <a:ext cx="182885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CHARGEBACK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67314" y="2777232"/>
            <a:ext cx="2438438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was disputed?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53257" y="2019697"/>
            <a:ext cx="78728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53257" y="2230537"/>
            <a:ext cx="1828754" cy="19050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23" name="Text 21"/>
          <p:cNvSpPr/>
          <p:nvPr/>
        </p:nvSpPr>
        <p:spPr>
          <a:xfrm>
            <a:off x="9753257" y="2356247"/>
            <a:ext cx="182885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NETWORK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753257" y="2777232"/>
            <a:ext cx="182885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are they connected to?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377" y="5830888"/>
            <a:ext cx="11277318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400" dirty="0">
                <a:solidFill>
                  <a:srgbClr val="F3F7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needs review? Why? What are they connected to?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609585" y="5754688"/>
            <a:ext cx="25399" cy="493713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27" name="Text 25"/>
          <p:cNvSpPr/>
          <p:nvPr/>
        </p:nvSpPr>
        <p:spPr>
          <a:xfrm>
            <a:off x="609585" y="6458545"/>
            <a:ext cx="31058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/ PRODUCT CASE STUDY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4F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15821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7196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02 / INVESTIGATION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854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00" kern="0" spc="-148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FiniX turns messy payment data into explainable investigation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585" y="1915319"/>
            <a:ext cx="760890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09585" y="2126159"/>
            <a:ext cx="2514537" cy="19050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251869"/>
            <a:ext cx="251453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Data rescue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2672854"/>
            <a:ext cx="251453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Cleaning, standardization, and validation.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8914" y="1915319"/>
            <a:ext cx="788869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8914" y="2126159"/>
            <a:ext cx="2514537" cy="19050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10" name="Text 8"/>
          <p:cNvSpPr/>
          <p:nvPr/>
        </p:nvSpPr>
        <p:spPr>
          <a:xfrm>
            <a:off x="3428914" y="2251869"/>
            <a:ext cx="251453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Analytics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8914" y="2672854"/>
            <a:ext cx="251453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 plus KYC and merchant summarization.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48244" y="1915319"/>
            <a:ext cx="790654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48244" y="2126159"/>
            <a:ext cx="2514537" cy="19050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2251869"/>
            <a:ext cx="251453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Investigation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48244" y="2672854"/>
            <a:ext cx="2514537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Linkage evidence, risk signals, and network intelligence.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67573" y="1915319"/>
            <a:ext cx="794822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dirty="0">
                <a:solidFill>
                  <a:srgbClr val="4F7C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67573" y="2126159"/>
            <a:ext cx="2514537" cy="19050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18" name="Text 16"/>
          <p:cNvSpPr/>
          <p:nvPr/>
        </p:nvSpPr>
        <p:spPr>
          <a:xfrm>
            <a:off x="9067573" y="2251869"/>
            <a:ext cx="251453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AI copilot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67573" y="2672854"/>
            <a:ext cx="2514537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Gemini explanation grounded in verified evidence.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585" y="5781675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244247"/>
          </a:solidFill>
          <a:ln/>
        </p:spPr>
      </p:sp>
      <p:sp>
        <p:nvSpPr>
          <p:cNvPr id="21" name="Text 19"/>
          <p:cNvSpPr/>
          <p:nvPr/>
        </p:nvSpPr>
        <p:spPr>
          <a:xfrm>
            <a:off x="609585" y="6048375"/>
            <a:ext cx="11582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kern="0" spc="21" dirty="0">
                <a:solidFill>
                  <a:srgbClr val="9196A1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Operating principle.</a:t>
            </a:r>
            <a:r>
              <a:rPr lang="en-US" sz="1050" kern="0" spc="21" dirty="0">
                <a:solidFill>
                  <a:srgbClr val="9196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Evidence first. Explanation follows verified evidence.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9585" y="6458545"/>
            <a:ext cx="31058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/ PRODUCT CASE STUDY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4F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15821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7196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03 / SOURCE SYSTEMS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427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00" kern="0" spc="-148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Four source systems become one investigation layer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9585" y="1487884"/>
            <a:ext cx="2400240" cy="2535833"/>
          </a:xfrm>
          <a:prstGeom prst="roundRect">
            <a:avLst>
              <a:gd name="adj" fmla="val 5079"/>
            </a:avLst>
          </a:prstGeom>
          <a:solidFill>
            <a:srgbClr val="0E1B1F"/>
          </a:solidFill>
          <a:ln/>
        </p:spPr>
      </p:sp>
      <p:sp>
        <p:nvSpPr>
          <p:cNvPr id="5" name="Text 3"/>
          <p:cNvSpPr/>
          <p:nvPr/>
        </p:nvSpPr>
        <p:spPr>
          <a:xfrm>
            <a:off x="863578" y="1741884"/>
            <a:ext cx="25018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C9D4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01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3578" y="2145109"/>
            <a:ext cx="1892253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0" spc="-198" dirty="0">
                <a:solidFill>
                  <a:srgbClr val="C9D4D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20,000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63578" y="2837259"/>
            <a:ext cx="189225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C9D4D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UPI transactions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3578" y="3258245"/>
            <a:ext cx="250183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 rows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67013" y="1487884"/>
            <a:ext cx="2400240" cy="2535833"/>
          </a:xfrm>
          <a:prstGeom prst="roundRect">
            <a:avLst>
              <a:gd name="adj" fmla="val 5079"/>
            </a:avLst>
          </a:prstGeom>
          <a:solidFill>
            <a:srgbClr val="0E1B1F"/>
          </a:solidFill>
          <a:ln/>
        </p:spPr>
      </p:sp>
      <p:sp>
        <p:nvSpPr>
          <p:cNvPr id="10" name="Text 8"/>
          <p:cNvSpPr/>
          <p:nvPr/>
        </p:nvSpPr>
        <p:spPr>
          <a:xfrm>
            <a:off x="3721007" y="1741884"/>
            <a:ext cx="25018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C9D4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21007" y="2145109"/>
            <a:ext cx="1892253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0" spc="-198" dirty="0">
                <a:solidFill>
                  <a:srgbClr val="C9D4D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36,122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721007" y="2837259"/>
            <a:ext cx="189225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C9D4D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KYC records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21007" y="3258245"/>
            <a:ext cx="250183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 rows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24442" y="1487884"/>
            <a:ext cx="2400240" cy="2535833"/>
          </a:xfrm>
          <a:prstGeom prst="roundRect">
            <a:avLst>
              <a:gd name="adj" fmla="val 5079"/>
            </a:avLst>
          </a:prstGeom>
          <a:solidFill>
            <a:srgbClr val="0E1B1F"/>
          </a:solidFill>
          <a:ln/>
        </p:spPr>
      </p:sp>
      <p:sp>
        <p:nvSpPr>
          <p:cNvPr id="15" name="Text 13"/>
          <p:cNvSpPr/>
          <p:nvPr/>
        </p:nvSpPr>
        <p:spPr>
          <a:xfrm>
            <a:off x="6578435" y="1741884"/>
            <a:ext cx="25018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C9D4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03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78435" y="2145109"/>
            <a:ext cx="1892253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0" spc="-198" dirty="0">
                <a:solidFill>
                  <a:srgbClr val="C9D4D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6,198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578435" y="2837259"/>
            <a:ext cx="1892253" cy="51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C9D4D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Merchant master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78435" y="3517305"/>
            <a:ext cx="250183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 rows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81870" y="1487884"/>
            <a:ext cx="2400240" cy="2535833"/>
          </a:xfrm>
          <a:prstGeom prst="roundRect">
            <a:avLst>
              <a:gd name="adj" fmla="val 5079"/>
            </a:avLst>
          </a:prstGeom>
          <a:solidFill>
            <a:srgbClr val="0E1B1F"/>
          </a:solidFill>
          <a:ln/>
        </p:spPr>
      </p:sp>
      <p:sp>
        <p:nvSpPr>
          <p:cNvPr id="20" name="Text 18"/>
          <p:cNvSpPr/>
          <p:nvPr/>
        </p:nvSpPr>
        <p:spPr>
          <a:xfrm>
            <a:off x="9435864" y="1741884"/>
            <a:ext cx="25018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C9D4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04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435864" y="2145109"/>
            <a:ext cx="1892253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0" spc="-198" dirty="0">
                <a:solidFill>
                  <a:srgbClr val="C9D4D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2,800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9435864" y="2837259"/>
            <a:ext cx="189225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C9D4D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Chargebacks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435864" y="3258245"/>
            <a:ext cx="2501837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 rows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9585" y="4582517"/>
            <a:ext cx="40892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9196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RELATIONSHIP KEYS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9585" y="4985742"/>
            <a:ext cx="347971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user_id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09585" y="5406727"/>
            <a:ext cx="4089298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the person.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44889" y="4582517"/>
            <a:ext cx="391150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9196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RELATIONSHIP KEYS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44889" y="4985742"/>
            <a:ext cx="330191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merchant_id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444889" y="5406727"/>
            <a:ext cx="3911502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the business.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02397" y="4582517"/>
            <a:ext cx="40892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9196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RELATIONSHIP KEYS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102397" y="4985742"/>
            <a:ext cx="3479713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txn_id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102397" y="5406727"/>
            <a:ext cx="4089298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the event.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260743" y="4582517"/>
            <a:ext cx="12700" cy="1076623"/>
          </a:xfrm>
          <a:prstGeom prst="rect">
            <a:avLst/>
          </a:prstGeom>
          <a:solidFill>
            <a:srgbClr val="244247"/>
          </a:solidFill>
          <a:ln/>
        </p:spPr>
      </p:sp>
      <p:sp>
        <p:nvSpPr>
          <p:cNvPr id="34" name="Shape 32"/>
          <p:cNvSpPr/>
          <p:nvPr/>
        </p:nvSpPr>
        <p:spPr>
          <a:xfrm>
            <a:off x="7918252" y="4582517"/>
            <a:ext cx="12700" cy="1076623"/>
          </a:xfrm>
          <a:prstGeom prst="rect">
            <a:avLst/>
          </a:prstGeom>
          <a:solidFill>
            <a:srgbClr val="244247"/>
          </a:solidFill>
          <a:ln/>
        </p:spPr>
      </p:sp>
      <p:sp>
        <p:nvSpPr>
          <p:cNvPr id="35" name="Text 33"/>
          <p:cNvSpPr/>
          <p:nvPr/>
        </p:nvSpPr>
        <p:spPr>
          <a:xfrm>
            <a:off x="609585" y="6458545"/>
            <a:ext cx="31058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/ PRODUCT CASE STUDY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4F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15821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7196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04 / DATA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427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00" kern="0" spc="-148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Clean the data. Preserve the evidence.</a:t>
            </a:r>
            <a:endParaRPr lang="en-US" sz="3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414859"/>
          <a:ext cx="10972527" cy="2872114"/>
        </p:xfrm>
        <a:graphic>
          <a:graphicData uri="http://schemas.openxmlformats.org/drawingml/2006/table">
            <a:tbl>
              <a:tblPr/>
              <a:tblGrid>
                <a:gridCol w="3730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3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67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0" spc="126" dirty="0">
                          <a:solidFill>
                            <a:srgbClr val="F3F7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EVIDENCE CHECK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0" spc="126" dirty="0">
                          <a:solidFill>
                            <a:srgbClr val="F3F7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BEFORE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0" spc="126" dirty="0">
                          <a:solidFill>
                            <a:srgbClr val="F3F7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AFTER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0" spc="126" dirty="0">
                          <a:solidFill>
                            <a:srgbClr val="F3F7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DISPOSITION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9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Transaction rows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20,400 raw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20,000 cleaned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400 exact duplicates removed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Missing UTR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1,024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Retained in evidence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5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Missing MCC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2,926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2,872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Retained in evidence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Validation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90 checks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21 warnings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Warnings retained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585" y="1915306"/>
            <a:ext cx="10972525" cy="6350"/>
          </a:xfrm>
          <a:prstGeom prst="rect">
            <a:avLst/>
          </a:prstGeom>
          <a:solidFill>
            <a:srgbClr val="244247"/>
          </a:solidFill>
          <a:ln/>
        </p:spPr>
      </p:sp>
      <p:sp>
        <p:nvSpPr>
          <p:cNvPr id="4" name="Shape 3"/>
          <p:cNvSpPr/>
          <p:nvPr/>
        </p:nvSpPr>
        <p:spPr>
          <a:xfrm>
            <a:off x="609585" y="2677287"/>
            <a:ext cx="10972525" cy="6350"/>
          </a:xfrm>
          <a:prstGeom prst="rect">
            <a:avLst/>
          </a:prstGeom>
          <a:solidFill>
            <a:srgbClr val="244247"/>
          </a:solidFill>
          <a:ln/>
        </p:spPr>
      </p:sp>
      <p:sp>
        <p:nvSpPr>
          <p:cNvPr id="7" name="Shape 4"/>
          <p:cNvSpPr/>
          <p:nvPr/>
        </p:nvSpPr>
        <p:spPr>
          <a:xfrm>
            <a:off x="609585" y="3213849"/>
            <a:ext cx="10972525" cy="6350"/>
          </a:xfrm>
          <a:prstGeom prst="rect">
            <a:avLst/>
          </a:prstGeom>
          <a:solidFill>
            <a:srgbClr val="244247"/>
          </a:solidFill>
          <a:ln/>
        </p:spPr>
      </p:sp>
      <p:sp>
        <p:nvSpPr>
          <p:cNvPr id="8" name="Shape 5"/>
          <p:cNvSpPr/>
          <p:nvPr/>
        </p:nvSpPr>
        <p:spPr>
          <a:xfrm>
            <a:off x="609585" y="3750410"/>
            <a:ext cx="10972525" cy="6350"/>
          </a:xfrm>
          <a:prstGeom prst="rect">
            <a:avLst/>
          </a:prstGeom>
          <a:solidFill>
            <a:srgbClr val="244247"/>
          </a:solidFill>
          <a:ln/>
        </p:spPr>
      </p:sp>
      <p:sp>
        <p:nvSpPr>
          <p:cNvPr id="9" name="Shape 6"/>
          <p:cNvSpPr/>
          <p:nvPr/>
        </p:nvSpPr>
        <p:spPr>
          <a:xfrm>
            <a:off x="609585" y="5551488"/>
            <a:ext cx="10972526" cy="696912"/>
          </a:xfrm>
          <a:prstGeom prst="roundRect">
            <a:avLst>
              <a:gd name="adj" fmla="val 10715"/>
            </a:avLst>
          </a:prstGeom>
          <a:solidFill>
            <a:srgbClr val="002180"/>
          </a:solidFill>
          <a:ln/>
        </p:spPr>
      </p:sp>
      <p:sp>
        <p:nvSpPr>
          <p:cNvPr id="10" name="Text 7"/>
          <p:cNvSpPr/>
          <p:nvPr/>
        </p:nvSpPr>
        <p:spPr>
          <a:xfrm>
            <a:off x="787380" y="5773738"/>
            <a:ext cx="11226519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Negative transactions remain visible as investigation signals, not automatic fraud classifications.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9585" y="6458545"/>
            <a:ext cx="31058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/ PRODUCT CASE STUDY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4F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15821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7196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05 / FEATURE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427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00" kern="0" spc="-148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Rows become behavioural signals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585" y="1487884"/>
            <a:ext cx="1158211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compact evidence groups keep the investigation readable instead of producing a feature dump.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867297"/>
            <a:ext cx="5333867" cy="2140248"/>
          </a:xfrm>
          <a:prstGeom prst="roundRect">
            <a:avLst>
              <a:gd name="adj" fmla="val 5696"/>
            </a:avLst>
          </a:prstGeom>
          <a:solidFill>
            <a:srgbClr val="0E1B1F"/>
          </a:solidFill>
          <a:ln/>
        </p:spPr>
      </p:sp>
      <p:sp>
        <p:nvSpPr>
          <p:cNvPr id="6" name="Text 4"/>
          <p:cNvSpPr/>
          <p:nvPr/>
        </p:nvSpPr>
        <p:spPr>
          <a:xfrm>
            <a:off x="888978" y="2146697"/>
            <a:ext cx="538466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C9D4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TRANSACTION LAYER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88978" y="2549922"/>
            <a:ext cx="477508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C9D4D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Status, value, and frequency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8978" y="2970907"/>
            <a:ext cx="4775081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flags; high-value threshold at the 95th percentile; transaction counts; user-level amount anomaly using absolute z-score ≥ 2.5.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8244" y="1867297"/>
            <a:ext cx="5333867" cy="2140248"/>
          </a:xfrm>
          <a:prstGeom prst="roundRect">
            <a:avLst>
              <a:gd name="adj" fmla="val 5696"/>
            </a:avLst>
          </a:prstGeom>
          <a:solidFill>
            <a:srgbClr val="0E1B1F"/>
          </a:solidFill>
          <a:ln/>
        </p:spPr>
      </p:sp>
      <p:sp>
        <p:nvSpPr>
          <p:cNvPr id="10" name="Text 8"/>
          <p:cNvSpPr/>
          <p:nvPr/>
        </p:nvSpPr>
        <p:spPr>
          <a:xfrm>
            <a:off x="6527637" y="2146697"/>
            <a:ext cx="538466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C9D4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KYC + CHARGEBACK LAYER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27637" y="2549922"/>
            <a:ext cx="477508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C9D4D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Identity and case context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27637" y="2970907"/>
            <a:ext cx="477508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and status consistency, risk segments, severity, delays, open cases, and unauthorized-transaction flags.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585" y="4312345"/>
            <a:ext cx="5333867" cy="1887835"/>
          </a:xfrm>
          <a:prstGeom prst="roundRect">
            <a:avLst>
              <a:gd name="adj" fmla="val 6458"/>
            </a:avLst>
          </a:prstGeom>
          <a:solidFill>
            <a:srgbClr val="0E1B1F"/>
          </a:solidFill>
          <a:ln/>
        </p:spPr>
      </p:sp>
      <p:sp>
        <p:nvSpPr>
          <p:cNvPr id="14" name="Text 12"/>
          <p:cNvSpPr/>
          <p:nvPr/>
        </p:nvSpPr>
        <p:spPr>
          <a:xfrm>
            <a:off x="888978" y="4591745"/>
            <a:ext cx="538466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C9D4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MERCHANT LAYER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8978" y="4994970"/>
            <a:ext cx="477508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C9D4D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Business context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88978" y="5415955"/>
            <a:ext cx="477508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Merchant age, active or suspended status, ticket-size context, and missing-MCC checks.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48244" y="4312345"/>
            <a:ext cx="5333867" cy="1887835"/>
          </a:xfrm>
          <a:prstGeom prst="roundRect">
            <a:avLst>
              <a:gd name="adj" fmla="val 6458"/>
            </a:avLst>
          </a:prstGeom>
          <a:solidFill>
            <a:srgbClr val="315DCC"/>
          </a:solidFill>
          <a:ln/>
        </p:spPr>
      </p:sp>
      <p:sp>
        <p:nvSpPr>
          <p:cNvPr id="18" name="Text 16"/>
          <p:cNvSpPr/>
          <p:nvPr/>
        </p:nvSpPr>
        <p:spPr>
          <a:xfrm>
            <a:off x="6527637" y="4591745"/>
            <a:ext cx="538466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READING RULE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27637" y="4994970"/>
            <a:ext cx="4775081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Signal, not verdict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27637" y="5415955"/>
            <a:ext cx="477508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feature adds context to an evidence-backed investigation and a requires review decision.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9585" y="6458545"/>
            <a:ext cx="31058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/ PRODUCT CASE STUDY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4F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15821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7196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06 / LINKAGE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427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00" kern="0" spc="-148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Chargeback linkage is evidence, not a blind join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585" y="1487884"/>
            <a:ext cx="10972526" cy="9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spcAft>
                <a:spcPts val="1550"/>
              </a:spcAft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2,800 chargebacks produce 2,800 linkage records. One complaint stays one row; transaction-level data stays one row.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each txn_id, compare chargeback user_id, transaction user_id, merchant_id values, disputed amount, and user–merchant connectivity.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600722"/>
          <a:ext cx="10972526" cy="2646695"/>
        </p:xfrm>
        <a:graphic>
          <a:graphicData uri="http://schemas.openxmlformats.org/drawingml/2006/table">
            <a:tbl>
              <a:tblPr/>
              <a:tblGrid>
                <a:gridCol w="2633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0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67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0" spc="126" dirty="0">
                          <a:solidFill>
                            <a:srgbClr val="F3F7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COMPARE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0" spc="126" dirty="0">
                          <a:solidFill>
                            <a:srgbClr val="F3F7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EVIDENCE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0" spc="126" dirty="0">
                          <a:solidFill>
                            <a:srgbClr val="F3F7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COMPARE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kern="0" spc="126" dirty="0">
                          <a:solidFill>
                            <a:srgbClr val="F3F7F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WHY IT MATTERS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5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txn_id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Chargeback record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Transaction record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Preserves event identity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user_id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Chargeback user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Transaction user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Tests identity alignment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5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merchant_id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Chargeback merchant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Transaction merchant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Tests relationship alignment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2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Amount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Disputed amount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Transaction amount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C9D4D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Tests value consistency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5399" marR="152396" marT="152396" marB="15239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9585" y="3101169"/>
            <a:ext cx="10972525" cy="6350"/>
          </a:xfrm>
          <a:prstGeom prst="rect">
            <a:avLst/>
          </a:prstGeom>
          <a:solidFill>
            <a:srgbClr val="244247"/>
          </a:solidFill>
          <a:ln/>
        </p:spPr>
      </p:sp>
      <p:sp>
        <p:nvSpPr>
          <p:cNvPr id="7" name="Shape 4"/>
          <p:cNvSpPr/>
          <p:nvPr/>
        </p:nvSpPr>
        <p:spPr>
          <a:xfrm>
            <a:off x="609585" y="3637730"/>
            <a:ext cx="10972525" cy="6350"/>
          </a:xfrm>
          <a:prstGeom prst="rect">
            <a:avLst/>
          </a:prstGeom>
          <a:solidFill>
            <a:srgbClr val="244247"/>
          </a:solidFill>
          <a:ln/>
        </p:spPr>
      </p:sp>
      <p:sp>
        <p:nvSpPr>
          <p:cNvPr id="5" name="Shape 5"/>
          <p:cNvSpPr/>
          <p:nvPr/>
        </p:nvSpPr>
        <p:spPr>
          <a:xfrm>
            <a:off x="609585" y="4174292"/>
            <a:ext cx="10972525" cy="6350"/>
          </a:xfrm>
          <a:prstGeom prst="rect">
            <a:avLst/>
          </a:prstGeom>
          <a:solidFill>
            <a:srgbClr val="244247"/>
          </a:solidFill>
          <a:ln/>
        </p:spPr>
      </p:sp>
      <p:sp>
        <p:nvSpPr>
          <p:cNvPr id="9" name="Shape 6"/>
          <p:cNvSpPr/>
          <p:nvPr/>
        </p:nvSpPr>
        <p:spPr>
          <a:xfrm>
            <a:off x="609585" y="4710853"/>
            <a:ext cx="10972525" cy="6350"/>
          </a:xfrm>
          <a:prstGeom prst="rect">
            <a:avLst/>
          </a:prstGeom>
          <a:solidFill>
            <a:srgbClr val="244247"/>
          </a:solidFill>
          <a:ln/>
        </p:spPr>
      </p:sp>
      <p:sp>
        <p:nvSpPr>
          <p:cNvPr id="10" name="Text 7"/>
          <p:cNvSpPr/>
          <p:nvPr/>
        </p:nvSpPr>
        <p:spPr>
          <a:xfrm>
            <a:off x="609585" y="5552281"/>
            <a:ext cx="40892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9196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9585" y="5885656"/>
            <a:ext cx="347971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MISSING_TXN_ID · UNMATCHED_TRANSACTION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444889" y="5552281"/>
            <a:ext cx="391150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9196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444889" y="5885656"/>
            <a:ext cx="330191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IDENTITY_MISMATCH · RELATIONSHIP_MISMATCH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102397" y="5552281"/>
            <a:ext cx="408929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9196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102397" y="5885656"/>
            <a:ext cx="4089298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4F7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MATCHED_IDENTITIES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60743" y="5552281"/>
            <a:ext cx="12700" cy="838200"/>
          </a:xfrm>
          <a:prstGeom prst="rect">
            <a:avLst/>
          </a:prstGeom>
          <a:solidFill>
            <a:srgbClr val="244247"/>
          </a:solidFill>
          <a:ln/>
        </p:spPr>
      </p:sp>
      <p:sp>
        <p:nvSpPr>
          <p:cNvPr id="17" name="Shape 14"/>
          <p:cNvSpPr/>
          <p:nvPr/>
        </p:nvSpPr>
        <p:spPr>
          <a:xfrm>
            <a:off x="7918252" y="5552281"/>
            <a:ext cx="12700" cy="838200"/>
          </a:xfrm>
          <a:prstGeom prst="rect">
            <a:avLst/>
          </a:prstGeom>
          <a:solidFill>
            <a:srgbClr val="244247"/>
          </a:solidFill>
          <a:ln/>
        </p:spPr>
      </p:sp>
      <p:sp>
        <p:nvSpPr>
          <p:cNvPr id="18" name="Text 15"/>
          <p:cNvSpPr/>
          <p:nvPr/>
        </p:nvSpPr>
        <p:spPr>
          <a:xfrm>
            <a:off x="609585" y="6458545"/>
            <a:ext cx="31058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/ PRODUCT CASE STUDY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4F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15821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7196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07 / INVESTIGATION PRIORITY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427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00" kern="0" spc="-148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Multiple signals create an investigation priority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9585" y="1487884"/>
            <a:ext cx="3454314" cy="2378373"/>
          </a:xfrm>
          <a:prstGeom prst="roundRect">
            <a:avLst>
              <a:gd name="adj" fmla="val 5126"/>
            </a:avLst>
          </a:prstGeom>
          <a:solidFill>
            <a:srgbClr val="0E1B1F"/>
          </a:solidFill>
          <a:ln/>
        </p:spPr>
      </p:sp>
      <p:sp>
        <p:nvSpPr>
          <p:cNvPr id="5" name="Text 3"/>
          <p:cNvSpPr/>
          <p:nvPr/>
        </p:nvSpPr>
        <p:spPr>
          <a:xfrm>
            <a:off x="914377" y="1792684"/>
            <a:ext cx="345431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C9D4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SIGNAL COUNT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377" y="2195909"/>
            <a:ext cx="2844729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0" spc="-198" dirty="0">
                <a:solidFill>
                  <a:srgbClr val="C9D4D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377" y="2888059"/>
            <a:ext cx="2844729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C9D4D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LOW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377" y="3309045"/>
            <a:ext cx="345431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observed signal count.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8691" y="1487884"/>
            <a:ext cx="3454314" cy="2378373"/>
          </a:xfrm>
          <a:prstGeom prst="roundRect">
            <a:avLst>
              <a:gd name="adj" fmla="val 5126"/>
            </a:avLst>
          </a:prstGeom>
          <a:solidFill>
            <a:srgbClr val="0E1B1F"/>
          </a:solidFill>
          <a:ln/>
        </p:spPr>
      </p:sp>
      <p:sp>
        <p:nvSpPr>
          <p:cNvPr id="10" name="Text 8"/>
          <p:cNvSpPr/>
          <p:nvPr/>
        </p:nvSpPr>
        <p:spPr>
          <a:xfrm>
            <a:off x="4673483" y="1792684"/>
            <a:ext cx="345431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C9D4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SIGNAL COUNT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73483" y="2195909"/>
            <a:ext cx="2844729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0" spc="-198" dirty="0">
                <a:solidFill>
                  <a:srgbClr val="C9D4D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1–2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673483" y="2888059"/>
            <a:ext cx="2844729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C9D4D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WATCH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73483" y="3309045"/>
            <a:ext cx="345431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review in context.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7797" y="1487884"/>
            <a:ext cx="3454314" cy="2378373"/>
          </a:xfrm>
          <a:prstGeom prst="roundRect">
            <a:avLst>
              <a:gd name="adj" fmla="val 5126"/>
            </a:avLst>
          </a:prstGeom>
          <a:solidFill>
            <a:srgbClr val="3154B8"/>
          </a:solidFill>
          <a:ln/>
        </p:spPr>
      </p:sp>
      <p:sp>
        <p:nvSpPr>
          <p:cNvPr id="15" name="Text 13"/>
          <p:cNvSpPr/>
          <p:nvPr/>
        </p:nvSpPr>
        <p:spPr>
          <a:xfrm>
            <a:off x="8432589" y="1792684"/>
            <a:ext cx="345431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kern="0" spc="2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SIGNAL COUNT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32589" y="2195909"/>
            <a:ext cx="2844729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0" spc="-198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3+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432589" y="2888059"/>
            <a:ext cx="2844729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000" kern="0" spc="-9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ELEVATED_REVIEW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32589" y="3309045"/>
            <a:ext cx="345431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observed signals.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9585" y="4094857"/>
            <a:ext cx="109725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kern="0" spc="21" dirty="0">
                <a:solidFill>
                  <a:srgbClr val="9196A1"/>
                </a:solidFill>
                <a:latin typeface="IBM Plex Mono Bold" pitchFamily="34" charset="0"/>
                <a:ea typeface="IBM Plex Mono Bold" pitchFamily="34" charset="-122"/>
                <a:cs typeface="IBM Plex Mono Bold" pitchFamily="34" charset="-120"/>
              </a:rPr>
              <a:t>Example signals.</a:t>
            </a:r>
            <a:r>
              <a:rPr lang="en-US" sz="1050" kern="0" spc="21" dirty="0">
                <a:solidFill>
                  <a:srgbClr val="9196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High transaction frequency, high chargeback activity, identity mismatch, disconnected relationship, rejected or high-risk KYC, and unauthorized-transaction chargeback.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377" y="5887740"/>
            <a:ext cx="1127731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000" dirty="0">
                <a:solidFill>
                  <a:srgbClr val="F3F7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investigation priority is not a fraud verdict.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09585" y="5811540"/>
            <a:ext cx="25399" cy="436860"/>
          </a:xfrm>
          <a:prstGeom prst="rect">
            <a:avLst/>
          </a:prstGeom>
          <a:solidFill>
            <a:srgbClr val="4F7CFF"/>
          </a:solidFill>
          <a:ln/>
        </p:spPr>
      </p:sp>
      <p:sp>
        <p:nvSpPr>
          <p:cNvPr id="22" name="Text 20"/>
          <p:cNvSpPr/>
          <p:nvPr/>
        </p:nvSpPr>
        <p:spPr>
          <a:xfrm>
            <a:off x="609585" y="6458545"/>
            <a:ext cx="31058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/ PRODUCT CASE STUDY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4F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15821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7196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08 / NETWORK INTELLIGENCE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427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00" kern="0" spc="-148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Move from rows to relationships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585" y="1716484"/>
            <a:ext cx="350511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kern="0" spc="-324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27,924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09585" y="2886869"/>
            <a:ext cx="4114697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3378597"/>
            <a:ext cx="350511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200" kern="0" spc="-324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22,795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09585" y="4548981"/>
            <a:ext cx="4114697" cy="2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85" y="5015309"/>
            <a:ext cx="3505112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structure helps investigators examine connected entities and disconnected relationships.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1886" y="1487884"/>
            <a:ext cx="7010225" cy="4513263"/>
          </a:xfrm>
          <a:prstGeom prst="roundRect">
            <a:avLst>
              <a:gd name="adj" fmla="val 2701"/>
            </a:avLst>
          </a:prstGeom>
          <a:solidFill>
            <a:srgbClr val="0E1B1F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5879" y="1741884"/>
            <a:ext cx="6502237" cy="3657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9585" y="6458545"/>
            <a:ext cx="31058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7E849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FRAME / PRODUCT CASE STUDY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390028" y="6458545"/>
            <a:ext cx="8016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50" kern="0" spc="126" dirty="0">
                <a:solidFill>
                  <a:srgbClr val="4F7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1158211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0" spc="110" dirty="0">
                <a:solidFill>
                  <a:srgbClr val="7196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09 / PRODUCT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35025"/>
            <a:ext cx="10972526" cy="427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300" kern="0" spc="-148" dirty="0">
                <a:solidFill>
                  <a:srgbClr val="F3F7F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One dashboard, multiple risk domains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09585" y="1487884"/>
            <a:ext cx="11582110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4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labeled product map shows how eight Streamlit pages work together without exposing sensitive identity data.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943497"/>
            <a:ext cx="10972526" cy="34118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</Words>
  <Application>Microsoft Office PowerPoint</Application>
  <PresentationFormat>Widescreen</PresentationFormat>
  <Paragraphs>195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IBM Plex Mono</vt:lpstr>
      <vt:lpstr>Inter SemiBold</vt:lpstr>
      <vt:lpstr>Manrope SemiBold</vt:lpstr>
      <vt:lpstr>IBM Plex Mono Bold</vt:lpstr>
      <vt:lpstr>IBM Plex Mono Medium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Bhumika Aggarwal</cp:lastModifiedBy>
  <cp:revision>1</cp:revision>
  <dcterms:created xsi:type="dcterms:W3CDTF">2026-09-16T11:25:56Z</dcterms:created>
  <dcterms:modified xsi:type="dcterms:W3CDTF">2026-09-16T11:27:07Z</dcterms:modified>
</cp:coreProperties>
</file>